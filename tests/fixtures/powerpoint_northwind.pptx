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98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Q1 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Sheet1!$B$1:$C$1</c:f>
              <c:strCache>
                <c:ptCount val="2"/>
                <c:pt idx="0">
                  <c:v>Online</c:v>
                </c:pt>
                <c:pt idx="1">
                  <c:v>Stores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30.1</c:v>
                </c:pt>
                <c:pt idx="1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23-4107-B0AC-61F258CCE8A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Sheet1!$B$1:$C$1</c:f>
              <c:strCache>
                <c:ptCount val="2"/>
                <c:pt idx="0">
                  <c:v>Online</c:v>
                </c:pt>
                <c:pt idx="1">
                  <c:v>Stores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34.5</c:v>
                </c:pt>
                <c:pt idx="1">
                  <c:v>49.8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23-4107-B0AC-61F258CCE8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67799024"/>
        <c:axId val="967794704"/>
      </c:barChart>
      <c:catAx>
        <c:axId val="967799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794704"/>
        <c:crosses val="autoZero"/>
        <c:auto val="1"/>
        <c:lblAlgn val="ctr"/>
        <c:lblOffset val="100"/>
        <c:noMultiLvlLbl val="0"/>
      </c:catAx>
      <c:valAx>
        <c:axId val="967794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799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F48EE-3ACD-476E-8ACE-8D8F514F3BF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981B261-497E-4FC0-BD54-DC761F454F02}">
      <dgm:prSet phldrT="[Text]"/>
      <dgm:spPr/>
      <dgm:t>
        <a:bodyPr/>
        <a:lstStyle/>
        <a:p>
          <a:r>
            <a:rPr lang="en-US"/>
            <a:t>Order placed in 2 days</a:t>
          </a:r>
        </a:p>
      </dgm:t>
    </dgm:pt>
    <dgm:pt modelId="{75263C2F-5EFE-4868-B53A-D13E9709C623}" type="parTrans" cxnId="{473B5D9B-FF79-4429-ABC4-D443341E2D31}">
      <dgm:prSet/>
      <dgm:spPr/>
    </dgm:pt>
    <dgm:pt modelId="{D2059C67-9439-4B6B-96B4-0884798E8DF6}" type="sibTrans" cxnId="{473B5D9B-FF79-4429-ABC4-D443341E2D31}">
      <dgm:prSet/>
      <dgm:spPr/>
      <dgm:t>
        <a:bodyPr/>
        <a:lstStyle/>
        <a:p>
          <a:endParaRPr lang="en-US"/>
        </a:p>
      </dgm:t>
    </dgm:pt>
    <dgm:pt modelId="{06D8F465-9405-41D8-A56C-4821DD86BF9D}">
      <dgm:prSet phldrT="[Text]"/>
      <dgm:spPr/>
      <dgm:t>
        <a:bodyPr/>
        <a:lstStyle/>
        <a:p>
          <a:r>
            <a:rPr lang="en-US"/>
            <a:t>Picked and packed in 5 days</a:t>
          </a:r>
        </a:p>
      </dgm:t>
    </dgm:pt>
    <dgm:pt modelId="{55614870-9795-445C-AA80-5B980139613A}" type="parTrans" cxnId="{62D4934B-31B4-4AE3-9710-D83AB3D3B5BB}">
      <dgm:prSet/>
      <dgm:spPr/>
    </dgm:pt>
    <dgm:pt modelId="{05BE4870-D016-4011-888E-F6201C68DC9F}" type="sibTrans" cxnId="{62D4934B-31B4-4AE3-9710-D83AB3D3B5BB}">
      <dgm:prSet/>
      <dgm:spPr/>
      <dgm:t>
        <a:bodyPr/>
        <a:lstStyle/>
        <a:p>
          <a:endParaRPr lang="en-US"/>
        </a:p>
      </dgm:t>
    </dgm:pt>
    <dgm:pt modelId="{9FA5AE35-5FB3-428D-BA2C-F7341F6DF991}">
      <dgm:prSet phldrT="[Text]"/>
      <dgm:spPr/>
      <dgm:t>
        <a:bodyPr/>
        <a:lstStyle/>
        <a:p>
          <a:r>
            <a:rPr lang="en-US"/>
            <a:t>On shelf after 12 days</a:t>
          </a:r>
        </a:p>
      </dgm:t>
    </dgm:pt>
    <dgm:pt modelId="{54DD3659-AABC-4475-B1BA-BA9857CCEF89}" type="parTrans" cxnId="{4574AB12-5C78-4ED3-90A8-07C5227FC855}">
      <dgm:prSet/>
      <dgm:spPr/>
    </dgm:pt>
    <dgm:pt modelId="{148DEF03-52AE-4E00-A278-50AB8DD419D6}" type="sibTrans" cxnId="{4574AB12-5C78-4ED3-90A8-07C5227FC855}">
      <dgm:prSet/>
      <dgm:spPr/>
    </dgm:pt>
    <dgm:pt modelId="{92261443-169C-4999-814C-BC2ABFA2515D}" type="pres">
      <dgm:prSet presAssocID="{AC7F48EE-3ACD-476E-8ACE-8D8F514F3BF0}" presName="Name0" presStyleCnt="0">
        <dgm:presLayoutVars>
          <dgm:dir/>
          <dgm:resizeHandles val="exact"/>
        </dgm:presLayoutVars>
      </dgm:prSet>
      <dgm:spPr/>
    </dgm:pt>
    <dgm:pt modelId="{116772D7-9C26-4DA3-B5AC-AE2C6B689A7D}" type="pres">
      <dgm:prSet presAssocID="{9981B261-497E-4FC0-BD54-DC761F454F02}" presName="node" presStyleLbl="node1" presStyleIdx="0" presStyleCnt="3">
        <dgm:presLayoutVars>
          <dgm:bulletEnabled val="1"/>
        </dgm:presLayoutVars>
      </dgm:prSet>
      <dgm:spPr/>
    </dgm:pt>
    <dgm:pt modelId="{F4117D0B-8940-4229-99F5-9C0E3E63F95C}" type="pres">
      <dgm:prSet presAssocID="{D2059C67-9439-4B6B-96B4-0884798E8DF6}" presName="sibTrans" presStyleLbl="sibTrans2D1" presStyleIdx="0" presStyleCnt="2"/>
      <dgm:spPr/>
    </dgm:pt>
    <dgm:pt modelId="{0DF86E31-6693-4B08-BDED-C8805ED1E062}" type="pres">
      <dgm:prSet presAssocID="{D2059C67-9439-4B6B-96B4-0884798E8DF6}" presName="connectorText" presStyleLbl="sibTrans2D1" presStyleIdx="0" presStyleCnt="2"/>
      <dgm:spPr/>
    </dgm:pt>
    <dgm:pt modelId="{90CB08D0-2D31-45CB-9DF5-B86AFCDAD0E0}" type="pres">
      <dgm:prSet presAssocID="{06D8F465-9405-41D8-A56C-4821DD86BF9D}" presName="node" presStyleLbl="node1" presStyleIdx="1" presStyleCnt="3">
        <dgm:presLayoutVars>
          <dgm:bulletEnabled val="1"/>
        </dgm:presLayoutVars>
      </dgm:prSet>
      <dgm:spPr/>
    </dgm:pt>
    <dgm:pt modelId="{F8E45B91-DF74-419C-A743-52A7C9BE22BB}" type="pres">
      <dgm:prSet presAssocID="{05BE4870-D016-4011-888E-F6201C68DC9F}" presName="sibTrans" presStyleLbl="sibTrans2D1" presStyleIdx="1" presStyleCnt="2"/>
      <dgm:spPr/>
    </dgm:pt>
    <dgm:pt modelId="{E3AAAAFA-4380-448A-A86C-C786CD51D1ED}" type="pres">
      <dgm:prSet presAssocID="{05BE4870-D016-4011-888E-F6201C68DC9F}" presName="connectorText" presStyleLbl="sibTrans2D1" presStyleIdx="1" presStyleCnt="2"/>
      <dgm:spPr/>
    </dgm:pt>
    <dgm:pt modelId="{DDBEE839-3EE4-404A-93E6-0B1F31E19D03}" type="pres">
      <dgm:prSet presAssocID="{9FA5AE35-5FB3-428D-BA2C-F7341F6DF991}" presName="node" presStyleLbl="node1" presStyleIdx="2" presStyleCnt="3">
        <dgm:presLayoutVars>
          <dgm:bulletEnabled val="1"/>
        </dgm:presLayoutVars>
      </dgm:prSet>
      <dgm:spPr/>
    </dgm:pt>
  </dgm:ptLst>
  <dgm:cxnLst>
    <dgm:cxn modelId="{4574AB12-5C78-4ED3-90A8-07C5227FC855}" srcId="{AC7F48EE-3ACD-476E-8ACE-8D8F514F3BF0}" destId="{9FA5AE35-5FB3-428D-BA2C-F7341F6DF991}" srcOrd="2" destOrd="0" parTransId="{54DD3659-AABC-4475-B1BA-BA9857CCEF89}" sibTransId="{148DEF03-52AE-4E00-A278-50AB8DD419D6}"/>
    <dgm:cxn modelId="{26ADF72D-0603-4182-BBDB-C80F5741B73B}" type="presOf" srcId="{AC7F48EE-3ACD-476E-8ACE-8D8F514F3BF0}" destId="{92261443-169C-4999-814C-BC2ABFA2515D}" srcOrd="0" destOrd="0" presId="urn:microsoft.com/office/officeart/2005/8/layout/process1"/>
    <dgm:cxn modelId="{3EB54E61-AA24-4161-BC52-FFE6DCA03182}" type="presOf" srcId="{9FA5AE35-5FB3-428D-BA2C-F7341F6DF991}" destId="{DDBEE839-3EE4-404A-93E6-0B1F31E19D03}" srcOrd="0" destOrd="0" presId="urn:microsoft.com/office/officeart/2005/8/layout/process1"/>
    <dgm:cxn modelId="{09F55461-7A51-4B28-97CC-5673624F166D}" type="presOf" srcId="{D2059C67-9439-4B6B-96B4-0884798E8DF6}" destId="{0DF86E31-6693-4B08-BDED-C8805ED1E062}" srcOrd="1" destOrd="0" presId="urn:microsoft.com/office/officeart/2005/8/layout/process1"/>
    <dgm:cxn modelId="{62D4934B-31B4-4AE3-9710-D83AB3D3B5BB}" srcId="{AC7F48EE-3ACD-476E-8ACE-8D8F514F3BF0}" destId="{06D8F465-9405-41D8-A56C-4821DD86BF9D}" srcOrd="1" destOrd="0" parTransId="{55614870-9795-445C-AA80-5B980139613A}" sibTransId="{05BE4870-D016-4011-888E-F6201C68DC9F}"/>
    <dgm:cxn modelId="{1ACDDA87-F5A2-474C-A555-5AC1E2B4403F}" type="presOf" srcId="{D2059C67-9439-4B6B-96B4-0884798E8DF6}" destId="{F4117D0B-8940-4229-99F5-9C0E3E63F95C}" srcOrd="0" destOrd="0" presId="urn:microsoft.com/office/officeart/2005/8/layout/process1"/>
    <dgm:cxn modelId="{473B5D9B-FF79-4429-ABC4-D443341E2D31}" srcId="{AC7F48EE-3ACD-476E-8ACE-8D8F514F3BF0}" destId="{9981B261-497E-4FC0-BD54-DC761F454F02}" srcOrd="0" destOrd="0" parTransId="{75263C2F-5EFE-4868-B53A-D13E9709C623}" sibTransId="{D2059C67-9439-4B6B-96B4-0884798E8DF6}"/>
    <dgm:cxn modelId="{362B59CC-A204-4FA4-9B01-FF7D1804FECD}" type="presOf" srcId="{05BE4870-D016-4011-888E-F6201C68DC9F}" destId="{E3AAAAFA-4380-448A-A86C-C786CD51D1ED}" srcOrd="1" destOrd="0" presId="urn:microsoft.com/office/officeart/2005/8/layout/process1"/>
    <dgm:cxn modelId="{9A68CCD6-812F-430C-A69E-2E7C09762F5F}" type="presOf" srcId="{9981B261-497E-4FC0-BD54-DC761F454F02}" destId="{116772D7-9C26-4DA3-B5AC-AE2C6B689A7D}" srcOrd="0" destOrd="0" presId="urn:microsoft.com/office/officeart/2005/8/layout/process1"/>
    <dgm:cxn modelId="{2451FBD8-D4AC-48B7-9E7B-13186B503081}" type="presOf" srcId="{05BE4870-D016-4011-888E-F6201C68DC9F}" destId="{F8E45B91-DF74-419C-A743-52A7C9BE22BB}" srcOrd="0" destOrd="0" presId="urn:microsoft.com/office/officeart/2005/8/layout/process1"/>
    <dgm:cxn modelId="{A76D7FF8-66CF-472F-9546-9D43146005E3}" type="presOf" srcId="{06D8F465-9405-41D8-A56C-4821DD86BF9D}" destId="{90CB08D0-2D31-45CB-9DF5-B86AFCDAD0E0}" srcOrd="0" destOrd="0" presId="urn:microsoft.com/office/officeart/2005/8/layout/process1"/>
    <dgm:cxn modelId="{98436793-0B7C-42B4-812B-D3FD9075FBFF}" type="presParOf" srcId="{92261443-169C-4999-814C-BC2ABFA2515D}" destId="{116772D7-9C26-4DA3-B5AC-AE2C6B689A7D}" srcOrd="0" destOrd="0" presId="urn:microsoft.com/office/officeart/2005/8/layout/process1"/>
    <dgm:cxn modelId="{8A649D58-DA06-4040-B36B-CC75F988BA90}" type="presParOf" srcId="{92261443-169C-4999-814C-BC2ABFA2515D}" destId="{F4117D0B-8940-4229-99F5-9C0E3E63F95C}" srcOrd="1" destOrd="0" presId="urn:microsoft.com/office/officeart/2005/8/layout/process1"/>
    <dgm:cxn modelId="{44358EFA-B36E-4261-A877-5499239994A2}" type="presParOf" srcId="{F4117D0B-8940-4229-99F5-9C0E3E63F95C}" destId="{0DF86E31-6693-4B08-BDED-C8805ED1E062}" srcOrd="0" destOrd="0" presId="urn:microsoft.com/office/officeart/2005/8/layout/process1"/>
    <dgm:cxn modelId="{C757F70A-FF51-415B-A197-9CBEDA17CFA4}" type="presParOf" srcId="{92261443-169C-4999-814C-BC2ABFA2515D}" destId="{90CB08D0-2D31-45CB-9DF5-B86AFCDAD0E0}" srcOrd="2" destOrd="0" presId="urn:microsoft.com/office/officeart/2005/8/layout/process1"/>
    <dgm:cxn modelId="{A5B0D293-4BDC-405A-AC87-B7E1AC79A2D2}" type="presParOf" srcId="{92261443-169C-4999-814C-BC2ABFA2515D}" destId="{F8E45B91-DF74-419C-A743-52A7C9BE22BB}" srcOrd="3" destOrd="0" presId="urn:microsoft.com/office/officeart/2005/8/layout/process1"/>
    <dgm:cxn modelId="{93F7488C-D05A-4E7A-B6DB-6FC9905389DF}" type="presParOf" srcId="{F8E45B91-DF74-419C-A743-52A7C9BE22BB}" destId="{E3AAAAFA-4380-448A-A86C-C786CD51D1ED}" srcOrd="0" destOrd="0" presId="urn:microsoft.com/office/officeart/2005/8/layout/process1"/>
    <dgm:cxn modelId="{BCDDEA83-D78B-48BA-AC60-F5A6B239FA5E}" type="presParOf" srcId="{92261443-169C-4999-814C-BC2ABFA2515D}" destId="{DDBEE839-3EE4-404A-93E6-0B1F31E19D0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6772D7-9C26-4DA3-B5AC-AE2C6B689A7D}">
      <dsp:nvSpPr>
        <dsp:cNvPr id="0" name=""/>
        <dsp:cNvSpPr/>
      </dsp:nvSpPr>
      <dsp:spPr>
        <a:xfrm>
          <a:off x="6697" y="669478"/>
          <a:ext cx="2001738" cy="1201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Order placed in 2 days</a:t>
          </a:r>
        </a:p>
      </dsp:txBody>
      <dsp:txXfrm>
        <a:off x="41874" y="704655"/>
        <a:ext cx="1931384" cy="1130688"/>
      </dsp:txXfrm>
    </dsp:sp>
    <dsp:sp modelId="{F4117D0B-8940-4229-99F5-9C0E3E63F95C}">
      <dsp:nvSpPr>
        <dsp:cNvPr id="0" name=""/>
        <dsp:cNvSpPr/>
      </dsp:nvSpPr>
      <dsp:spPr>
        <a:xfrm>
          <a:off x="2208609" y="1021784"/>
          <a:ext cx="424368" cy="4964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208609" y="1121070"/>
        <a:ext cx="297058" cy="297859"/>
      </dsp:txXfrm>
    </dsp:sp>
    <dsp:sp modelId="{90CB08D0-2D31-45CB-9DF5-B86AFCDAD0E0}">
      <dsp:nvSpPr>
        <dsp:cNvPr id="0" name=""/>
        <dsp:cNvSpPr/>
      </dsp:nvSpPr>
      <dsp:spPr>
        <a:xfrm>
          <a:off x="2809130" y="669478"/>
          <a:ext cx="2001738" cy="1201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Picked and packed in 5 days</a:t>
          </a:r>
        </a:p>
      </dsp:txBody>
      <dsp:txXfrm>
        <a:off x="2844307" y="704655"/>
        <a:ext cx="1931384" cy="1130688"/>
      </dsp:txXfrm>
    </dsp:sp>
    <dsp:sp modelId="{F8E45B91-DF74-419C-A743-52A7C9BE22BB}">
      <dsp:nvSpPr>
        <dsp:cNvPr id="0" name=""/>
        <dsp:cNvSpPr/>
      </dsp:nvSpPr>
      <dsp:spPr>
        <a:xfrm>
          <a:off x="5011042" y="1021784"/>
          <a:ext cx="424368" cy="4964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011042" y="1121070"/>
        <a:ext cx="297058" cy="297859"/>
      </dsp:txXfrm>
    </dsp:sp>
    <dsp:sp modelId="{DDBEE839-3EE4-404A-93E6-0B1F31E19D03}">
      <dsp:nvSpPr>
        <dsp:cNvPr id="0" name=""/>
        <dsp:cNvSpPr/>
      </dsp:nvSpPr>
      <dsp:spPr>
        <a:xfrm>
          <a:off x="5611564" y="669478"/>
          <a:ext cx="2001738" cy="1201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 shelf after 12 days</a:t>
          </a:r>
        </a:p>
      </dsp:txBody>
      <dsp:txXfrm>
        <a:off x="5646741" y="704655"/>
        <a:ext cx="1931384" cy="1130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D7F12-8E5C-45D8-AE63-655BB1C2C3A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9A441-7CD7-4AD3-9089-08CBB6D90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5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Lead with sales growth, then explain the margin dip.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9A441-7CD7-4AD3-9089-08CBB6D904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19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Online keeps gaining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9A441-7CD7-4AD3-9089-08CBB6D904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57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Decision on roll-out in Q1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9A441-7CD7-4AD3-9089-08CBB6D904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7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DBC6-AFFD-644A-5175-32CD9D53B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544B3-FA73-B2C2-BCFE-2F4976B81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0D976-2039-B52B-454E-E9D87CC59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C4650-AC72-EA7A-C30E-CDC265DD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3E40F-6D56-7EB1-3025-81D464EE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8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BBEF-50FB-EFF2-14E2-16F888DC5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A3D0D-27BE-99B7-1976-8AD8C6C2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65D24-079C-257F-A8DA-15295D831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57294-E68A-BC72-D48F-274CED6D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64ECD-8241-8C85-9885-0B705FEF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9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3CFA-3930-28CA-75AB-ABF9CC595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386A5-D727-082B-A97F-FBB355F2A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4BBF5-57A8-1C36-B00E-7026C015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5DC10-D7C7-3E60-C09E-C9F172D5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817A3-76F5-D13A-70DF-0810F00E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8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358D-8BE8-0447-B9A3-64FC86E0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8D111-547A-354B-7226-6E3EEABF2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FAFEE-2EF5-7D4F-4A70-7AA4B87C8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D24B4-62D6-7D88-C506-8A1F553AD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A1B8A-CA53-4353-5628-F450356A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45703-79BC-51C4-DE92-98C50BEC9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39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9BBF-3111-222C-9638-9EE7BEEB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AE455-2871-F284-6837-9AF828698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07AA7-8485-D3C7-F755-B01CBFB86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E64342-A2DE-31DA-7C17-2B98EA796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2DBA6-CCFB-4976-762B-FE7F1C850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CFE0E-481B-E291-F015-F88D46C9E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16C2A-BE9F-1D09-72FB-58574A95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0EECB9-95A7-305A-FF5F-3BB93D27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3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B097-FC17-2216-EF5A-89CACA27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3ACB03-482A-76E3-7A24-AC094DD7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6359E-4B21-BAA5-A3DF-4AB2822C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5760E-B16F-A001-027B-44886437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4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B4AA6-3F2F-EDA8-60FE-121F59812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58460-D9F5-2E38-FDBE-6D2BE354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19268-7B19-1C21-2881-D4FD67AD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8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161D-A17E-6063-2629-A463E75F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5E96A-C884-F174-403B-BEF5B1C34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4ACC2-2D5F-309D-C9E0-764A5A90D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DA845-95D0-4738-E1F9-563A3DD6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E6955-B506-C48B-B397-D60BE4C3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306BB-5324-4529-FD7B-5E1D4278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8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76F2E-4C75-226A-0904-29F6754A8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4826D5-E6AF-EE20-0F83-A0CB06E1735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4DC1D-4C80-3527-67D7-C9FC294EB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44CB5-0703-ED10-3B1A-5F83B090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F6D41-C910-2887-72B0-E70F2351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79B27-955C-B420-8F59-7C8AD8AF6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16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7858-F0DA-6B42-5601-3F350EEC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54F9F-9A92-D1B0-2385-745539E7A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1278B-E2D0-81EF-F3F1-D07EAAFD0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5AF89-6FF1-BB9D-DFE1-FCA2B0000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D39AA-1C65-A322-06C8-CE339B4AD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1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B5763-C644-74A4-BC2B-3384E8DAD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4DED3-E365-0774-6E52-810362A4A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9CC9-8AA2-ACF8-19DE-69D8A7DA4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C08DF-E9E8-FA0A-3958-73953556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20CB5-974C-7359-E1BF-E606421B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8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AB8AD-B14E-B5E5-EE35-B129F5708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1A198-6153-F1F1-8F22-8DEDA855D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72DA9-3121-1C8D-9E21-A7626CA7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CF951-7109-933C-927B-6411DC27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A8C4C-1EE9-1DBE-E672-5088B0E4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68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771BE9-595E-02BA-26DD-4D5D1352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D948A-CFCD-3F65-489E-94BF877DC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FE55F-D187-A305-C45A-B9AA9CEC0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C957F-20AF-4091-882A-FC5E794AC5C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67F8C-7674-3E89-3D17-D6072B924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6985C-A4F1-B14E-AF7B-A8AB8D307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D58C4-B87D-4317-9B5F-CF20C08FB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27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1AD5-1306-0DF6-95F5-2D1CBBF215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Northwind Retail - H1 2026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2126D-D979-7972-286B-E316C85B9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Executive Committee</a:t>
            </a:r>
          </a:p>
          <a:p>
            <a:r>
              <a:rPr lang="en-US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234580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0CA9-EC4B-D9AC-16AB-812068C36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Highlights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9B5FE-F824-DC6C-B15F-E9A3BF4D9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Net sales EUR 184.6m, up 6.2%</a:t>
            </a:r>
          </a:p>
          <a:p>
            <a:r>
              <a:rPr lang="en-US"/>
              <a:t>Online share reached 31%</a:t>
            </a:r>
          </a:p>
          <a:p>
            <a:r>
              <a:rPr lang="en-US"/>
              <a:t>Gross margin 38.9%, down 1.4 pts</a:t>
            </a:r>
          </a:p>
          <a:p>
            <a:pPr lvl="1"/>
            <a:r>
              <a:rPr lang="en-US"/>
              <a:t>Freight +0.8 pts, markdowns +0.6 pts</a:t>
            </a:r>
          </a:p>
          <a:p>
            <a:r>
              <a:rPr lang="en-US"/>
              <a:t>Inventory days 74 vs 65 target</a:t>
            </a:r>
          </a:p>
        </p:txBody>
      </p:sp>
    </p:spTree>
    <p:extLst>
      <p:ext uri="{BB962C8B-B14F-4D97-AF65-F5344CB8AC3E}">
        <p14:creationId xmlns:p14="http://schemas.microsoft.com/office/powerpoint/2010/main" val="3454869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997B-269F-80E8-49C3-9D244A9F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Sales by channel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341A0AC-8553-3B53-D99E-AD5DBA0A0B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407960"/>
              </p:ext>
            </p:extLst>
          </p:nvPr>
        </p:nvGraphicFramePr>
        <p:xfrm>
          <a:off x="762000" y="1524000"/>
          <a:ext cx="762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6503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0A2E-6DC5-8410-5738-50CD472E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Regional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C69A73-ABDD-8D2C-CAB8-CFD704252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91128"/>
              </p:ext>
            </p:extLst>
          </p:nvPr>
        </p:nvGraphicFramePr>
        <p:xfrm>
          <a:off x="762000" y="1651000"/>
          <a:ext cx="762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79199907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408911352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076577936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73479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EUR 71.2m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+8%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84206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EUR 63.9m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+5%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23485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EUR 49.5m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+4%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88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952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5B56-0762-BE54-1566-C40E0BC95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 to shelf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86FA902-E45A-11FF-9527-12E7B4907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1844362"/>
              </p:ext>
            </p:extLst>
          </p:nvPr>
        </p:nvGraphicFramePr>
        <p:xfrm>
          <a:off x="762000" y="1524000"/>
          <a:ext cx="7620000" cy="25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239B3DE-88C0-C8A1-9383-F98F00416D13}"/>
              </a:ext>
            </a:extLst>
          </p:cNvPr>
          <p:cNvSpPr txBox="1"/>
          <p:nvPr/>
        </p:nvSpPr>
        <p:spPr>
          <a:xfrm>
            <a:off x="762000" y="444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Lead time from order to shelf averages 19 days.</a:t>
            </a:r>
          </a:p>
        </p:txBody>
      </p:sp>
    </p:spTree>
    <p:extLst>
      <p:ext uri="{BB962C8B-B14F-4D97-AF65-F5344CB8AC3E}">
        <p14:creationId xmlns:p14="http://schemas.microsoft.com/office/powerpoint/2010/main" val="121891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FE220-E82D-A584-6851-4A5234EA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store format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25039-A856-4346-78DD-DCBC5D0467A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4064000" cy="2286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7E330A3-6E11-E6F8-1EF7-FBA271EF76DC}"/>
              </a:ext>
            </a:extLst>
          </p:cNvPr>
          <p:cNvGrpSpPr/>
          <p:nvPr/>
        </p:nvGrpSpPr>
        <p:grpSpPr>
          <a:xfrm>
            <a:off x="5334000" y="1524000"/>
            <a:ext cx="3302000" cy="1778000"/>
            <a:chOff x="5334000" y="1524000"/>
            <a:chExt cx="3302000" cy="17780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44940D1-B612-1EAB-471D-8265E0E3A546}"/>
                </a:ext>
              </a:extLst>
            </p:cNvPr>
            <p:cNvSpPr/>
            <p:nvPr/>
          </p:nvSpPr>
          <p:spPr>
            <a:xfrm>
              <a:off x="5334000" y="1524000"/>
              <a:ext cx="3302000" cy="762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Pilot in 3 stores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532E2AB-61B7-F739-D0B2-DE41E664F38C}"/>
                </a:ext>
              </a:extLst>
            </p:cNvPr>
            <p:cNvSpPr/>
            <p:nvPr/>
          </p:nvSpPr>
          <p:spPr>
            <a:xfrm>
              <a:off x="5334000" y="2540000"/>
              <a:ext cx="3302000" cy="762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Sales per m2 up 11%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4AD688E-4B27-1C34-9857-FF1988AFBE59}"/>
              </a:ext>
            </a:extLst>
          </p:cNvPr>
          <p:cNvSpPr txBox="1"/>
          <p:nvPr/>
        </p:nvSpPr>
        <p:spPr>
          <a:xfrm>
            <a:off x="762000" y="4064000"/>
            <a:ext cx="406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Store 14, Utrecht</a:t>
            </a:r>
          </a:p>
        </p:txBody>
      </p:sp>
    </p:spTree>
    <p:extLst>
      <p:ext uri="{BB962C8B-B14F-4D97-AF65-F5344CB8AC3E}">
        <p14:creationId xmlns:p14="http://schemas.microsoft.com/office/powerpoint/2010/main" val="38683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Widescreen</PresentationFormat>
  <Paragraphs>38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Northwind Retail - H1 2026 review</vt:lpstr>
      <vt:lpstr>Highlights</vt:lpstr>
      <vt:lpstr>Sales by channel</vt:lpstr>
      <vt:lpstr>Regional results</vt:lpstr>
      <vt:lpstr>Order to shelf</vt:lpstr>
      <vt:lpstr>New store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Blade Seven</dc:creator>
  <cp:lastModifiedBy>Blade Seven</cp:lastModifiedBy>
  <cp:revision>1</cp:revision>
  <dcterms:created xsi:type="dcterms:W3CDTF">2026-10-24T07:05:15Z</dcterms:created>
  <dcterms:modified xsi:type="dcterms:W3CDTF">2026-10-24T07:05:15Z</dcterms:modified>
</cp:coreProperties>
</file>